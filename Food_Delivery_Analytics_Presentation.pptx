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Delivery Time (min)</c:v>
                </c:pt>
              </c:strCache>
            </c:strRef>
          </c:tx>
          <c:spPr>
            <a:solidFill>
              <a:srgbClr val="0F7A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Low</c:v>
                  </c:pt>
                  <c:pt idx="1">
                    <c:v>Medium</c:v>
                  </c:pt>
                  <c:pt idx="2">
                    <c:v>High</c:v>
                  </c:pt>
                  <c:pt idx="3">
                    <c:v>Jam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23.7</c:v>
                </c:pt>
                <c:pt idx="1">
                  <c:v>24.1</c:v>
                </c:pt>
                <c:pt idx="2">
                  <c:v>31.9</c:v>
                </c:pt>
                <c:pt idx="3">
                  <c:v>38.8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A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EC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6B6A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6B6A"/>
                    </a:solidFill>
                    <a:latin typeface="Arial"/>
                  </a:rPr>
                  <a:t>Minutes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Delivery Time (min)</c:v>
                </c:pt>
              </c:strCache>
            </c:strRef>
          </c:tx>
          <c:spPr>
            <a:solidFill>
              <a:srgbClr val="F2B1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Clear</c:v>
                  </c:pt>
                  <c:pt idx="1">
                    <c:v>Cloudy</c:v>
                  </c:pt>
                  <c:pt idx="2">
                    <c:v>Windy</c:v>
                  </c:pt>
                  <c:pt idx="3">
                    <c:v>Foggy</c:v>
                  </c:pt>
                  <c:pt idx="4">
                    <c:v>Rainy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</c:v>
                </c:pt>
                <c:pt idx="1">
                  <c:v>26.4</c:v>
                </c:pt>
                <c:pt idx="2">
                  <c:v>26.5</c:v>
                </c:pt>
                <c:pt idx="3">
                  <c:v>32.7</c:v>
                </c:pt>
                <c:pt idx="4">
                  <c:v>36.2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A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EC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6B6A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6B6A"/>
                    </a:solidFill>
                    <a:latin typeface="Arial"/>
                  </a:rPr>
                  <a:t>Minutes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3D3A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-1097280"/>
            <a:ext cx="4114800" cy="4114800"/>
          </a:xfrm>
          <a:prstGeom prst="ellipse">
            <a:avLst/>
          </a:prstGeom>
          <a:solidFill>
            <a:srgbClr val="0F7A72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789920" y="4754880"/>
            <a:ext cx="2743200" cy="2743200"/>
          </a:xfrm>
          <a:prstGeom prst="ellipse">
            <a:avLst/>
          </a:prstGeom>
          <a:solidFill>
            <a:srgbClr val="F2B134">
              <a:alpha val="20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331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FOOD DELIVERY ORDER ANALYTICS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Really Drives Delivery Delays? — An EDA &amp; Statistical Study of 12,000 Orders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977640"/>
            <a:ext cx="502920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5806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Uday Garg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61447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 |  Python · Pandas · SciPy · Seaborn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apps promise an ETA — but what actually determines it?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84048" cy="384048"/>
          </a:xfrm>
          <a:prstGeom prst="ellipse">
            <a:avLst/>
          </a:prstGeom>
          <a:solidFill>
            <a:srgbClr val="F4F8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92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98424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traffic level significantly affect delivery time?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F4F8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92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642616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weather (rain/fog) cause a measurable delay?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3282696"/>
            <a:ext cx="384048" cy="384048"/>
          </a:xfrm>
          <a:prstGeom prst="ellipse">
            <a:avLst/>
          </a:prstGeom>
          <a:solidFill>
            <a:srgbClr val="F4F8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92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300984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strongly does distance correlate with delivery time?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3941064"/>
            <a:ext cx="384048" cy="384048"/>
          </a:xfrm>
          <a:prstGeom prst="ellipse">
            <a:avLst/>
          </a:prstGeom>
          <a:solidFill>
            <a:srgbClr val="F4F8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92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95935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cities drive the most order volume?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4599432"/>
            <a:ext cx="384048" cy="384048"/>
          </a:xfrm>
          <a:prstGeom prst="ellipse">
            <a:avLst/>
          </a:prstGeom>
          <a:solidFill>
            <a:srgbClr val="F4F8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599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92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61772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restaurant price predict rating or delivery speed?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7909560" y="1965960"/>
            <a:ext cx="3657600" cy="3337560"/>
          </a:xfrm>
          <a:prstGeom prst="roundRect">
            <a:avLst>
              <a:gd name="adj" fmla="val 3288"/>
            </a:avLst>
          </a:prstGeom>
          <a:solidFill>
            <a:srgbClr val="0B3D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0" y="22402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260604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real statistical testing — not just charts — to find what truly drives delivery performance, and turn findings into operational recommendations for a delivery platform.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Delivery Order Analytics  |  Uday Garg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Dataset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Order-level food delivery data — Oct 2025 to Sep 2026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F4F8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22199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F7A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12,000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632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4720" y="196596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F4F8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74720" y="222199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F7A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30632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196596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F4F8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09360" y="222199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F7A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0632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0" y="196596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F4F8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0" y="222199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F7A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30632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COLUMNS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48056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order_date · city · cuisines · cost_for_two · rating · votes · distance_km · traffic_level · weather_condition · delivery_time_min · payment_method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562356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FDF3D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562356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messiness included by design: mixed rating formats ("4.1/5", "NEW", "-"), comma-formatted costs, negative votes, duplicates, and inconsistent text casing.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Delivery Order Analytics  |  Uday Garg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Workflow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analyst pipeline, start to finish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339596" y="2377440"/>
            <a:ext cx="548640" cy="548640"/>
          </a:xfrm>
          <a:prstGeom prst="ellipse">
            <a:avLst/>
          </a:prstGeom>
          <a:solidFill>
            <a:srgbClr val="0F7A7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39596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6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54680"/>
            <a:ext cx="1947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657600"/>
            <a:ext cx="1947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duplicates, nulls, mixed formats, bad values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587752" y="242316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515868" y="2377440"/>
            <a:ext cx="548640" cy="548640"/>
          </a:xfrm>
          <a:prstGeom prst="ellipse">
            <a:avLst/>
          </a:prstGeom>
          <a:solidFill>
            <a:srgbClr val="0F7A7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15868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60" dirty="0"/>
          </a:p>
        </p:txBody>
      </p:sp>
      <p:sp>
        <p:nvSpPr>
          <p:cNvPr id="11" name="Text 9"/>
          <p:cNvSpPr txBox="1"/>
          <p:nvPr/>
        </p:nvSpPr>
        <p:spPr>
          <a:xfrm>
            <a:off x="2816352" y="3154680"/>
            <a:ext cx="1947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816352" y="3657600"/>
            <a:ext cx="1947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time, cost, and rating features from raw columns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764024" y="242316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692140" y="2377440"/>
            <a:ext cx="548640" cy="548640"/>
          </a:xfrm>
          <a:prstGeom prst="ellipse">
            <a:avLst/>
          </a:prstGeom>
          <a:solidFill>
            <a:srgbClr val="0F7A7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9214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60" dirty="0"/>
          </a:p>
        </p:txBody>
      </p:sp>
      <p:sp>
        <p:nvSpPr>
          <p:cNvPr id="16" name="Text 14"/>
          <p:cNvSpPr txBox="1"/>
          <p:nvPr/>
        </p:nvSpPr>
        <p:spPr>
          <a:xfrm>
            <a:off x="4992624" y="3154680"/>
            <a:ext cx="1947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Analysis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992624" y="3657600"/>
            <a:ext cx="1947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distributions and relationships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242316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868412" y="2377440"/>
            <a:ext cx="548640" cy="548640"/>
          </a:xfrm>
          <a:prstGeom prst="ellipse">
            <a:avLst/>
          </a:prstGeom>
          <a:solidFill>
            <a:srgbClr val="0F7A7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8412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60" dirty="0"/>
          </a:p>
        </p:txBody>
      </p:sp>
      <p:sp>
        <p:nvSpPr>
          <p:cNvPr id="21" name="Text 19"/>
          <p:cNvSpPr txBox="1"/>
          <p:nvPr/>
        </p:nvSpPr>
        <p:spPr>
          <a:xfrm>
            <a:off x="7168896" y="3154680"/>
            <a:ext cx="1947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Testing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68896" y="3657600"/>
            <a:ext cx="1947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patterns with t-test, ANOVA, correlation, chi-square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116568" y="242316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044684" y="2377440"/>
            <a:ext cx="548640" cy="548640"/>
          </a:xfrm>
          <a:prstGeom prst="ellipse">
            <a:avLst/>
          </a:prstGeom>
          <a:solidFill>
            <a:srgbClr val="0F7A7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44684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60" dirty="0"/>
          </a:p>
        </p:txBody>
      </p:sp>
      <p:sp>
        <p:nvSpPr>
          <p:cNvPr id="26" name="Text 24"/>
          <p:cNvSpPr txBox="1"/>
          <p:nvPr/>
        </p:nvSpPr>
        <p:spPr>
          <a:xfrm>
            <a:off x="9345168" y="3154680"/>
            <a:ext cx="1947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Insights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345168" y="3657600"/>
            <a:ext cx="1947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results into recommendations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Delivery Order Analytics  |  Uday Garg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1: Data Cleaning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messy raw fields into analysis-ready data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F4F8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duplicate rows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96596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Removed with drop_duplicates()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633472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F4F8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263347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rating formats ("4.1/5", "NEW", "-")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2633472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Standardized to clean numeric floats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300984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F4F8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3300984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Comma-formatted cost ("1,200")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3300984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Converted to numeric with str.replace + to_numeric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968496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F4F8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968496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 negative vote values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3968496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Corrected using .abs()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636008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F4F8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463600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text casing (Yes/yes)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4636008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Standardized with .str.title()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303520"/>
            <a:ext cx="10881360" cy="566928"/>
          </a:xfrm>
          <a:prstGeom prst="roundRect">
            <a:avLst>
              <a:gd name="adj" fmla="val 9677"/>
            </a:avLst>
          </a:prstGeom>
          <a:solidFill>
            <a:srgbClr val="F4F8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530352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332 missing city/location values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530352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Filled as "Unknown" to preserve rows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Delivery Order Analytics  |  Uday Garg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2: Feature Engineering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columns built from raw fields to enable deeper analysis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120640" cy="1600200"/>
          </a:xfrm>
          <a:prstGeom prst="roundRect">
            <a:avLst>
              <a:gd name="adj" fmla="val 5714"/>
            </a:avLst>
          </a:prstGeom>
          <a:solidFill>
            <a:srgbClr val="F4F8F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86000"/>
            <a:ext cx="457200" cy="457200"/>
          </a:xfrm>
          <a:prstGeom prst="ellipse">
            <a:avLst/>
          </a:prstGeom>
          <a:solidFill>
            <a:srgbClr val="0B3D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26771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order_hour / order_day_name / is_weekend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803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from order_date using the .dt accessor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2011680"/>
            <a:ext cx="5120640" cy="1600200"/>
          </a:xfrm>
          <a:prstGeom prst="roundRect">
            <a:avLst>
              <a:gd name="adj" fmla="val 5714"/>
            </a:avLst>
          </a:prstGeom>
          <a:solidFill>
            <a:srgbClr val="F4F8F7"/>
          </a:solidFill>
          <a:ln/>
        </p:spPr>
      </p:sp>
      <p:sp>
        <p:nvSpPr>
          <p:cNvPr id="10" name="Shape 8"/>
          <p:cNvSpPr/>
          <p:nvPr/>
        </p:nvSpPr>
        <p:spPr>
          <a:xfrm>
            <a:off x="6675120" y="2286000"/>
            <a:ext cx="457200" cy="457200"/>
          </a:xfrm>
          <a:prstGeom prst="ellipse">
            <a:avLst/>
          </a:prstGeom>
          <a:solidFill>
            <a:srgbClr val="0B3D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26771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cost_category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8803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/ Mid-Range / Premium / Luxury tiers from cost_for_two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31920"/>
            <a:ext cx="5120640" cy="1600200"/>
          </a:xfrm>
          <a:prstGeom prst="roundRect">
            <a:avLst>
              <a:gd name="adj" fmla="val 5714"/>
            </a:avLst>
          </a:prstGeom>
          <a:solidFill>
            <a:srgbClr val="F4F8F7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206240"/>
            <a:ext cx="457200" cy="457200"/>
          </a:xfrm>
          <a:prstGeom prst="ellipse">
            <a:avLst/>
          </a:prstGeom>
          <a:solidFill>
            <a:srgbClr val="0B3D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18795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rating_tier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8006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/ Medium / Low / Unrated — handles missing ratings explicitly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0" y="3931920"/>
            <a:ext cx="5120640" cy="1600200"/>
          </a:xfrm>
          <a:prstGeom prst="roundRect">
            <a:avLst>
              <a:gd name="adj" fmla="val 5714"/>
            </a:avLst>
          </a:prstGeom>
          <a:solidFill>
            <a:srgbClr val="F4F8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675120" y="4206240"/>
            <a:ext cx="457200" cy="457200"/>
          </a:xfrm>
          <a:prstGeom prst="ellipse">
            <a:avLst/>
          </a:prstGeom>
          <a:solidFill>
            <a:srgbClr val="0B3D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7512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0" y="418795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meal_slot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48006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Breakfast / Lunch / Evening Snacks / Dinner from order hour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Delivery Order Analytics  |  Uday Garg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3: What the Data Shows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delivery time by traffic level and weather condition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Traffic Level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96596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355080" y="16002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Weather Condition</a:t>
            </a:r>
            <a:endParaRPr lang="en-US" sz="14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355080" y="196596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Delivery Order Analytics  |  Uday Garg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4: Proving It Statistically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tests confirm the patterns aren't random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1521440" cy="457200"/>
          </a:xfrm>
          <a:prstGeom prst="rect">
            <a:avLst/>
          </a:prstGeom>
          <a:solidFill>
            <a:srgbClr val="0B3D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920240"/>
            <a:ext cx="1956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2816352" y="1920240"/>
            <a:ext cx="4059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Tested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022592" y="1920240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851392" y="19202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14432" y="1920240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11521440" cy="777240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377440"/>
            <a:ext cx="1956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T-Test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816352" y="2377440"/>
            <a:ext cx="4059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 vs Clear weather delivery time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022592" y="2377440"/>
            <a:ext cx="1682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40.48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851392" y="2377440"/>
            <a:ext cx="1316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0.001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314432" y="2377440"/>
            <a:ext cx="1773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54680"/>
            <a:ext cx="115214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232" y="3154680"/>
            <a:ext cx="1956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816352" y="3154680"/>
            <a:ext cx="4059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time across 4 traffic levels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22592" y="3154680"/>
            <a:ext cx="1682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2379.47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851392" y="3154680"/>
            <a:ext cx="1316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0.001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314432" y="3154680"/>
            <a:ext cx="1773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3931920"/>
            <a:ext cx="11521440" cy="777240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3232" y="3931920"/>
            <a:ext cx="1956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Correlation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816352" y="3931920"/>
            <a:ext cx="4059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vs delivery time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022592" y="3931920"/>
            <a:ext cx="1682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0.46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851392" y="3931920"/>
            <a:ext cx="1316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0.001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314432" y="3931920"/>
            <a:ext cx="1773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+ve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4709160"/>
            <a:ext cx="115214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13232" y="4709160"/>
            <a:ext cx="1956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Chi-Square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2816352" y="4709160"/>
            <a:ext cx="4059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order vs table booking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022592" y="4709160"/>
            <a:ext cx="1682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 = 13.94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851392" y="4709160"/>
            <a:ext cx="1316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0.001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314432" y="4709160"/>
            <a:ext cx="1773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Delivery Order Analytics  |  Uday Garg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Insights &amp; Recommendations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896112"/>
          </a:xfrm>
          <a:prstGeom prst="roundRect">
            <a:avLst>
              <a:gd name="adj" fmla="val 8163"/>
            </a:avLst>
          </a:prstGeom>
          <a:solidFill>
            <a:srgbClr val="0F4A45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591056"/>
            <a:ext cx="457200" cy="45720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591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44475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is the #1 delay driver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444752"/>
            <a:ext cx="5074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FC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Build dynamic ETAs using real-time traffic data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395728"/>
            <a:ext cx="10881360" cy="896112"/>
          </a:xfrm>
          <a:prstGeom prst="roundRect">
            <a:avLst>
              <a:gd name="adj" fmla="val 8163"/>
            </a:avLst>
          </a:prstGeom>
          <a:solidFill>
            <a:srgbClr val="0F4A45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2615184"/>
            <a:ext cx="457200" cy="45720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615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46888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 adds ~10 min per delivery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468880"/>
            <a:ext cx="5074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FC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Auto-apply a time buffer on rain-flagged orders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419856"/>
            <a:ext cx="10881360" cy="896112"/>
          </a:xfrm>
          <a:prstGeom prst="roundRect">
            <a:avLst>
              <a:gd name="adj" fmla="val 8163"/>
            </a:avLst>
          </a:prstGeom>
          <a:solidFill>
            <a:srgbClr val="0F4A45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3639312"/>
            <a:ext cx="457200" cy="45720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3639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493008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moderately predicts delay (r=0.46)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493008"/>
            <a:ext cx="5074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FC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Segment delivery partner assignment by distance tier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43984"/>
            <a:ext cx="10881360" cy="896112"/>
          </a:xfrm>
          <a:prstGeom prst="roundRect">
            <a:avLst>
              <a:gd name="adj" fmla="val 8163"/>
            </a:avLst>
          </a:prstGeom>
          <a:solidFill>
            <a:srgbClr val="0F4A45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4663440"/>
            <a:ext cx="457200" cy="45720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4517136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does NOT predict rating or speed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4517136"/>
            <a:ext cx="5074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FC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Promote high-rated budget restaurants, not just premium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5468112"/>
            <a:ext cx="10881360" cy="896112"/>
          </a:xfrm>
          <a:prstGeom prst="roundRect">
            <a:avLst>
              <a:gd name="adj" fmla="val 8163"/>
            </a:avLst>
          </a:prstGeom>
          <a:solidFill>
            <a:srgbClr val="0F4A45"/>
          </a:solidFill>
          <a:ln/>
        </p:spPr>
      </p:sp>
      <p:sp>
        <p:nvSpPr>
          <p:cNvPr id="24" name="Shape 22"/>
          <p:cNvSpPr/>
          <p:nvPr/>
        </p:nvSpPr>
        <p:spPr>
          <a:xfrm>
            <a:off x="914400" y="5687568"/>
            <a:ext cx="457200" cy="45720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5687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600200" y="5541264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Gurugram, Kolkata &amp; Jaipur lead order volume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263640" y="5541264"/>
            <a:ext cx="5074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FC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Prioritize restaurant onboarding in these cities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Delivery Order Analytics  |  Uday Garg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Used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78992" cy="502920"/>
          </a:xfrm>
          <a:prstGeom prst="roundRect">
            <a:avLst>
              <a:gd name="adj" fmla="val 50909"/>
            </a:avLst>
          </a:prstGeom>
          <a:solidFill>
            <a:srgbClr val="F4F8F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1078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947672" y="1463040"/>
            <a:ext cx="1078992" cy="502920"/>
          </a:xfrm>
          <a:prstGeom prst="roundRect">
            <a:avLst>
              <a:gd name="adj" fmla="val 50909"/>
            </a:avLst>
          </a:prstGeom>
          <a:solidFill>
            <a:srgbClr val="F4F8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947672" y="1463040"/>
            <a:ext cx="1078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55264" y="1463040"/>
            <a:ext cx="960120" cy="502920"/>
          </a:xfrm>
          <a:prstGeom prst="roundRect">
            <a:avLst>
              <a:gd name="adj" fmla="val 50909"/>
            </a:avLst>
          </a:prstGeom>
          <a:solidFill>
            <a:srgbClr val="F4F8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55264" y="146304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43984" y="1463040"/>
            <a:ext cx="1554480" cy="502920"/>
          </a:xfrm>
          <a:prstGeom prst="roundRect">
            <a:avLst>
              <a:gd name="adj" fmla="val 50909"/>
            </a:avLst>
          </a:prstGeom>
          <a:solidFill>
            <a:srgbClr val="F4F8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43984" y="14630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27064" y="1463040"/>
            <a:ext cx="1197864" cy="502920"/>
          </a:xfrm>
          <a:prstGeom prst="roundRect">
            <a:avLst>
              <a:gd name="adj" fmla="val 50909"/>
            </a:avLst>
          </a:prstGeom>
          <a:solidFill>
            <a:srgbClr val="F4F8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27064" y="1463040"/>
            <a:ext cx="1197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Seaborn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653528" y="1463040"/>
            <a:ext cx="960120" cy="502920"/>
          </a:xfrm>
          <a:prstGeom prst="roundRect">
            <a:avLst>
              <a:gd name="adj" fmla="val 50909"/>
            </a:avLst>
          </a:prstGeom>
          <a:solidFill>
            <a:srgbClr val="F4F8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46304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SciPy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842248" y="1463040"/>
            <a:ext cx="1197864" cy="502920"/>
          </a:xfrm>
          <a:prstGeom prst="roundRect">
            <a:avLst>
              <a:gd name="adj" fmla="val 50909"/>
            </a:avLst>
          </a:prstGeom>
          <a:solidFill>
            <a:srgbClr val="F4F8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842248" y="1463040"/>
            <a:ext cx="1197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2514600"/>
            <a:ext cx="10881360" cy="0"/>
          </a:xfrm>
          <a:prstGeom prst="line">
            <a:avLst/>
          </a:prstGeom>
          <a:noFill/>
          <a:ln w="12700">
            <a:solidFill>
              <a:srgbClr val="E6EC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Workflow Recap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2918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F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 →  Feature Engineering  →  Exploratory Data Analysis  →  Statistical Hypothesis Testing  →  Business Insights  →  GitHub  →  LinkedIn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297680"/>
            <a:ext cx="10881360" cy="1554480"/>
          </a:xfrm>
          <a:prstGeom prst="roundRect">
            <a:avLst>
              <a:gd name="adj" fmla="val 5882"/>
            </a:avLst>
          </a:prstGeom>
          <a:solidFill>
            <a:srgbClr val="0B3D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05840" y="45262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Uday Garg  |  Data Analytics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github.com/Udaygarg0034/food-delivery-analytics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Delivery Order Analytics  |  Uday Garg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2026-09-15T06:55:18Z</dcterms:created>
  <dcterms:modified xsi:type="dcterms:W3CDTF">2026-09-15T06:55:18Z</dcterms:modified>
</cp:coreProperties>
</file>