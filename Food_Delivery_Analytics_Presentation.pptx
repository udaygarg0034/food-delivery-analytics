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 (min)</c:v>
                </c:pt>
              </c:strCache>
            </c:strRef>
          </c:tx>
          <c:spPr>
            <a:solidFill>
              <a:srgbClr val="0F7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Jam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23.7</c:v>
                </c:pt>
                <c:pt idx="1">
                  <c:v>24.1</c:v>
                </c:pt>
                <c:pt idx="2">
                  <c:v>31.9</c:v>
                </c:pt>
                <c:pt idx="3">
                  <c:v>38.8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6A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 (min)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Clear</c:v>
                  </c:pt>
                  <c:pt idx="1">
                    <c:v>Cloudy</c:v>
                  </c:pt>
                  <c:pt idx="2">
                    <c:v>Windy</c:v>
                  </c:pt>
                  <c:pt idx="3">
                    <c:v>Foggy</c:v>
                  </c:pt>
                  <c:pt idx="4">
                    <c:v>Rainy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26.4</c:v>
                </c:pt>
                <c:pt idx="2">
                  <c:v>26.5</c:v>
                </c:pt>
                <c:pt idx="3">
                  <c:v>32.7</c:v>
                </c:pt>
                <c:pt idx="4">
                  <c:v>36.2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6A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0F7A7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F2B134">
              <a:alpha val="2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DELIVERY ORDER ANALYTICS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Drives Delivery Delays? — An EDA &amp; Statistical Study of 12,000 Orders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Python · Pandas · SciPy · Seaborn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apps promise an ETA — but what actually determines it?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4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8424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traffic level significantly affect delivery time?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F4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4261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weather (rain/fog) cause a measurable delay?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384048" cy="384048"/>
          </a:xfrm>
          <a:prstGeom prst="ellipse">
            <a:avLst/>
          </a:prstGeom>
          <a:solidFill>
            <a:srgbClr val="F4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00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does distance correlate with delivery time?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F4F8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593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drive the most order volume?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F4F8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177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restaurant price predict rating or delivery speed?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09560" y="196596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0B3D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6060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statistical testing — not just charts — to find what truly drives delivery performance, and turn findings into operational recommendations for a delivery platform.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food delivery data — Oct 2025 to Sep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21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221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221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2221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805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· city · cuisines · cost_for_two · rating · votes · distance_km · traffic_level · weather_condition · delivery_time_min · payment_method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DF3D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messiness included by design: mixed rating formats ("4.1/5", "NEW", "-"), comma-formatted costs, negative votes, duplicates, and inconsistent text casing.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analyst pipeline, start to finish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39596" y="2377440"/>
            <a:ext cx="548640" cy="548640"/>
          </a:xfrm>
          <a:prstGeom prst="ellipse">
            <a:avLst/>
          </a:prstGeom>
          <a:solidFill>
            <a:srgbClr val="0F7A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3959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1947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duplicates, nulls, mixed formats, bad values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15868" y="2377440"/>
            <a:ext cx="548640" cy="548640"/>
          </a:xfrm>
          <a:prstGeom prst="ellipse">
            <a:avLst/>
          </a:prstGeom>
          <a:solidFill>
            <a:srgbClr val="0F7A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1586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3154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3657600"/>
            <a:ext cx="1947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time, cost, and rating features from raw columns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92140" y="2377440"/>
            <a:ext cx="548640" cy="548640"/>
          </a:xfrm>
          <a:prstGeom prst="ellipse">
            <a:avLst/>
          </a:prstGeom>
          <a:solidFill>
            <a:srgbClr val="0F7A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921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6" name="Text 14"/>
          <p:cNvSpPr txBox="1"/>
          <p:nvPr/>
        </p:nvSpPr>
        <p:spPr>
          <a:xfrm>
            <a:off x="4992624" y="3154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92624" y="3657600"/>
            <a:ext cx="1947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 and relationships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68412" y="2377440"/>
            <a:ext cx="548640" cy="548640"/>
          </a:xfrm>
          <a:prstGeom prst="ellipse">
            <a:avLst/>
          </a:prstGeom>
          <a:solidFill>
            <a:srgbClr val="0F7A7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841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1" name="Text 19"/>
          <p:cNvSpPr txBox="1"/>
          <p:nvPr/>
        </p:nvSpPr>
        <p:spPr>
          <a:xfrm>
            <a:off x="7168896" y="3154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Comparisons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3657600"/>
            <a:ext cx="1947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averages across groups using groupby() and mean()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16568" y="2423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44684" y="2377440"/>
            <a:ext cx="548640" cy="548640"/>
          </a:xfrm>
          <a:prstGeom prst="ellipse">
            <a:avLst/>
          </a:prstGeom>
          <a:solidFill>
            <a:srgbClr val="0F7A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4468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315468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45168" y="3657600"/>
            <a:ext cx="1947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results into recommendations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Data Cleaning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raw fields into analysis-ready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duplicate rows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9659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Removed with drop_duplicates()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334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rating formats ("4.1/5", "NEW", "-")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63347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Standardized to clean numeric floats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0098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Comma-formatted cost ("1,200")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3009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Converted to numeric with str.replace + to_numeric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9684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negative vote values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96849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Corrected using .abs()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636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 casing (Yes/yes)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6360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Standardized with .str.title()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8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303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missing city/location values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53035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Filled as "Unknown" to preserve rows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Feature Engineering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built from raw fields to enable deeper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267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 / order_day_name / is_weekend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order_date using the .dt accessor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457200" cy="45720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267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cost_category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Mid-Range / Premium / Luxury tiers from cost_for_two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rating_tier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00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/ Unrated — handles missing ratings explicitly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9319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4206240"/>
            <a:ext cx="457200" cy="45720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meal_slot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800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/ Lunch / Evening Snacks / Dinner from order hour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What the Data Shows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by traffic level and weather condition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Traffic Level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55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Weather Condition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55080" y="19659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Comparing the Groups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groupby() and .mean() to compare averages across categories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Level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65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Jam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65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time: 24 min → 39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62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86207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→ Rainy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620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time: 26 min → 36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Delivery Time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75818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df.corr()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581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= 0.46 (moderate)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6542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65429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→ Luxury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65429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stays within 0.15 points — barely changes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DF3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explainable methods — no hypothesis testing required to see these patterns clearly.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0F4A4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91056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447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#1 delay driver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444752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dynamic ETAs using real-time traffic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0F4A4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15184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46888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adds ~10 min per delivery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6888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Auto-apply a time buffer on rain-flagged orders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0F4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63931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49300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moderately predicts delay (r=0.46)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49300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delivery partner assignment by distance tier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43984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0F4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51713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does NOT predict rating or speed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517136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 high-rated budget restaurants, not just premium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68112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0F4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68756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54126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Gurugram, Kolkata &amp; Jaipur lead order volume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554126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Prioritize restaurant onboarding in these cities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78992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47672" y="1463040"/>
            <a:ext cx="1078992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7672" y="14630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55264" y="1463040"/>
            <a:ext cx="960120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55264" y="14630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43984" y="146304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4398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7064" y="1463040"/>
            <a:ext cx="1197864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27064" y="14630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53528" y="1463040"/>
            <a:ext cx="960120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4630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42248" y="1463040"/>
            <a:ext cx="1197864" cy="502920"/>
          </a:xfrm>
          <a:prstGeom prst="roundRect">
            <a:avLst>
              <a:gd name="adj" fmla="val 50909"/>
            </a:avLst>
          </a:prstGeom>
          <a:solidFill>
            <a:srgbClr val="F4F8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42248" y="1463040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12700">
            <a:solidFill>
              <a:srgbClr val="E6EC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Recap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→  Feature Engineering  →  Exploratory Data Analysis  →  Simple Group Comparisons  →  Business Insights  →  GitHub  →  LinkedIn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0B3D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526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  |  Data Analytics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github.com/Udaygarg0034/food-delivery-analytics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Analytics  |  Uday Garg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2026-09-16T05:12:36Z</dcterms:created>
  <dcterms:modified xsi:type="dcterms:W3CDTF">2026-09-16T05:12:36Z</dcterms:modified>
</cp:coreProperties>
</file>